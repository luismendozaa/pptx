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TRACA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TRAÇADO ENGENHARIA | PERÚ 2026-2035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4759452"/>
            <a:ext cx="82296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2346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Documento Confidencial · Julio 2026</a:t>
            </a:r>
            <a:endParaRPr lang="en-US" sz="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344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Traçado + Perú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57200" y="2057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Oportunidades de Ingeniería y Construcción en el Mercado Peruano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023360" y="2514600"/>
            <a:ext cx="1097280" cy="45720"/>
          </a:xfrm>
          <a:prstGeom prst="rect">
            <a:avLst/>
          </a:prstGeom>
          <a:solidFill>
            <a:srgbClr val="2E5AAC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880360"/>
            <a:ext cx="2606040" cy="914400"/>
          </a:xfrm>
          <a:prstGeom prst="rect">
            <a:avLst/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US$ 110+ bi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identificado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200400" y="2880360"/>
            <a:ext cx="2606040" cy="914400"/>
          </a:xfrm>
          <a:prstGeom prst="rect">
            <a:avLst/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185 km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NCC · Alta montaña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0" y="2880360"/>
            <a:ext cx="2606040" cy="914400"/>
          </a:xfrm>
          <a:prstGeom prst="rect">
            <a:avLst/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Proyectos mineros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9436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Perú ahora?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103327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Seis factores estructurales que hacen del Perú el destino prioritario para Traçado en los Andes.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395478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Estabilidad macroeconómica: economía dolarizada en contratos de gran porte, inflación controlada y reservas internacionales robustas.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Riqueza mineral de clase mundial: liderazgo regional en oro, zinco, plata, molibdeno y estaño (USGS).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Déficit estructural de infraestructura: brecha superior a S/ 92 bi hasta 2032 — demanda garantizada por años.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732020" y="1417320"/>
            <a:ext cx="395478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 APP consolidado: ProInversión con pipeline activo en todos los sectores.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Corredor logístico del Pacífico: Megapuerto de Chancay (&gt;US$ 3 bi) reposiciona al Perú como hub Asia–Sudamérica.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Proximidad cultural y geográfica: frontera directa con Brasil, husos horarios cercanos y tradición de cooperación.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9436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Inversión identificada por sector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103327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Cartera 2026: más de US$ 110 mil millones en proyectos activos o en licitación.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920240" cy="960120"/>
          </a:xfrm>
          <a:prstGeom prst="rect">
            <a:avLst/>
          </a:prstGeom>
          <a:solidFill>
            <a:srgbClr val="2E5AA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US$ 64,1 bi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Minería · 66 proyectos (MINEM)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514600" y="1463040"/>
            <a:ext cx="1920240" cy="960120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US$ 44,4 bi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Infraestructura · 17 megaproyectos (MTC)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0" y="1463040"/>
            <a:ext cx="1920240" cy="960120"/>
          </a:xfrm>
          <a:prstGeom prst="rect">
            <a:avLst/>
          </a:prstGeom>
          <a:solidFill>
            <a:srgbClr val="2E5AA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US$ 2,5 bi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Agua/Saneamiento · 8 APP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629400" y="1463040"/>
            <a:ext cx="1920240" cy="960120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US$ 903 mi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Energía · 18 proyectos (ProInversión)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4233672"/>
            <a:ext cx="8229600" cy="457200"/>
          </a:xfrm>
          <a:prstGeom prst="rect">
            <a:avLst/>
          </a:prstGeom>
          <a:solidFill>
            <a:srgbClr val="F0F4F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dato clave: la minería sigue siendo el motor económico, pero agua, energía e infraestructura ofrecen ventanas de entrada con menor competencia para ingenierías internacionales como Traçado.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9436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Minería — Principales proyectos cupríferos y polimetálicos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103327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proyectos entran en operación entre 2026 y 2032. Cartera de exploración: US$ 757 millones adicionales.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44752"/>
          <a:ext cx="8229600" cy="2121408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Proyecto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Empresa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Inversión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Estado 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Granja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Rio Tinto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US$ 5.000 mi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Estudios avanzados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Cajamarca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Galeno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Jiangxi Copper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US$ 3.500 mi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Ingeniería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Cajamarca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Río Blanco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Zijin Mining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US$ 2.792 mi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Licenciamiento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Piura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Michiquillay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Southern Copper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US$ 2.500 mi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Estudios · inicio 2032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Cajamarca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 Chancas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Southern Copper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~US$ 2.600 mi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Estudios · 2030-2032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Apurímac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Pampa de Pongo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Jinzhao Mining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US$ 2.344 mi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Construcción 2027-2029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Arequipa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Tía María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Southern Copper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US$ 1.802 mi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 construcción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Arequipa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675888"/>
            <a:ext cx="969264" cy="219456"/>
          </a:xfrm>
          <a:prstGeom prst="rect">
            <a:avLst/>
          </a:prstGeom>
          <a:solidFill>
            <a:srgbClr val="E8EE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Terraplenaje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490472" y="3675888"/>
            <a:ext cx="1312164" cy="219456"/>
          </a:xfrm>
          <a:prstGeom prst="rect">
            <a:avLst/>
          </a:prstGeom>
          <a:solidFill>
            <a:srgbClr val="E8EE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Presas de relaves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2866644" y="3675888"/>
            <a:ext cx="1380744" cy="219456"/>
          </a:xfrm>
          <a:prstGeom prst="rect">
            <a:avLst/>
          </a:prstGeom>
          <a:solidFill>
            <a:srgbClr val="E8EE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Plantas de proceso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311396" y="3675888"/>
            <a:ext cx="777240" cy="219456"/>
          </a:xfrm>
          <a:prstGeom prst="rect">
            <a:avLst/>
          </a:prstGeom>
          <a:solidFill>
            <a:srgbClr val="E8EE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Túneles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152644" y="3675888"/>
            <a:ext cx="1586484" cy="219456"/>
          </a:xfrm>
          <a:prstGeom prst="rect">
            <a:avLst/>
          </a:prstGeom>
          <a:solidFill>
            <a:srgbClr val="E8EE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Líneas de transmisión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6803136" y="3675888"/>
            <a:ext cx="777240" cy="219456"/>
          </a:xfrm>
          <a:prstGeom prst="rect">
            <a:avLst/>
          </a:prstGeom>
          <a:solidFill>
            <a:srgbClr val="E8EE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EPCM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9436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Agua, Saneamiento y Energía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103327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Sectores con aceleración de APP y demanda de ingeniería.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395478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AGUA Y SANEAMIENTO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Obras de Cabecera y Conducción (Fase 1): US$ 696 mi — Lima Este/Sur, 1,5 millón de personas.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PTAR Trujillo: US$ 670 mi — 3 plantas, 852 mil habitantes.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PTAR Huancayo: US$ 410 mi — 570 mil habitantes.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Desaladora Ilo: US$ 174 mi — 133 mil habitantes.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PTAR Puerto Maldonado: US$ 150 mi — 197 mil habitantes, concesión 23 años.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732020" y="1417320"/>
            <a:ext cx="395478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ENERGÍA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Enlace 500 kV Miguel Grau–Pariñas + SE Pariñas: transmisión 500 kV en Piura.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Fotovoltaica Las Joyas: US$ 252 mi — generación solar en Arequipa.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Román–Yocara–Maravilla: US$ 135 mi — transmisión en Puno.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4 · Plan de Transmisión 2025-2034: US$ 145 mi — 5 proyectos en San Martín, Junín, Ucayali, Ica, Tacna.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Enlace 220 kV Los Héroes–Garita: US$ 36 mi — transmisión en Tacna.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9436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Nueva Carretera Central (NCC)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103327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reto de ingeniería en alta montaña que encaja perfectamente con el ADN de Traçado.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947672" cy="502920"/>
          </a:xfrm>
          <a:prstGeom prst="rect">
            <a:avLst/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185 km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Longitud total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14600" y="1463040"/>
            <a:ext cx="1947672" cy="502920"/>
          </a:xfrm>
          <a:prstGeom prst="rect">
            <a:avLst/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4.500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msnm · altitud máxima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0" y="1463040"/>
            <a:ext cx="1947672" cy="502920"/>
          </a:xfrm>
          <a:prstGeom prst="rect">
            <a:avLst/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US$ 6.500 mm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Inversión estimada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629400" y="1463040"/>
            <a:ext cx="1947672" cy="502920"/>
          </a:xfrm>
          <a:prstGeom prst="rect">
            <a:avLst/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Túneles proyectados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205740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Tramo 1 · Lima Este – Cieneguilla – Valle Lurín  |  15 km | 300-650 msnm | US$ 1.000 mm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66928" y="2267712"/>
            <a:ext cx="8010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Túnel Pariachi (6 km), Viaducto de Lurín (80 m altura), empalme con Autopista Priale.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57200" y="257860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Tramo 2 · Huarochirí (Zona Alta Montaña)  |  120 km | hasta 4.000 msnm | US$ 4.000 mm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66928" y="2788920"/>
            <a:ext cx="8010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Mayor densidad de túneles del proyecto. Túnel Huarochirí (3,2 km), Túnel Yuracmayo (3,3 km), Túneles Tinajas Alta, TUN-1, TUN-2 + viaducto.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57200" y="3099816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Tramo 3 · Divisoria de Aguas – Yauli – La Oroya  |  50 km | hasta 4.500 msnm | US$ 1.500 mm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66928" y="3310128"/>
            <a:ext cx="8010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Túnel Yauli (3 km), intercambiadores viales, conexión a Carretera Longitudinal de la Sierra.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57200" y="3657600"/>
            <a:ext cx="8229600" cy="292608"/>
          </a:xfrm>
          <a:prstGeom prst="rect">
            <a:avLst/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33-36 km en túneles (más de 50 en total)  ·  19 km en viaductos y puentes elevados  ·  9 intercambiadores a desnivel  ·  4.200 m de desnivel superado  ·  Más de 10 túneles superan los 3 km  ·  94 viaductos elevados sobre quebradas y taludes inestables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57200" y="4261104"/>
            <a:ext cx="8229600" cy="438912"/>
          </a:xfrm>
          <a:prstGeom prst="rect">
            <a:avLst/>
          </a:prstGeom>
          <a:solidFill>
            <a:srgbClr val="F0F4F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Traçado? Experiencia en pavimentación, túneles y obras de alta complejidad en terreno montañoso. El NCC es el proyecto perfecto para demostrar capacidad en los Andes.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9436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Infraestructura de Transporte — El mayor bloque de megaproyectos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103327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Rodovías, ferrocarriles, puertos y aeropuertos: US$ 44,4 mil millones en 17 megaproyectos (MTC).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44752"/>
          <a:ext cx="8229600" cy="2121408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Proyecto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Inversión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Descripción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Ferrocarril Lima–Ica (alta velocidad)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US$ 6.500 mi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323 km, 15 estaciones — financiamiento chino, obras desde 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Ferrocarril Imata–Espinar–Cotabambas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US$ 4.523 mi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405 km — corredor Arequipa/Cusco/Apurímac hasta puerto de Matarani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Megapuerto de Chancay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&gt;US$ 3.000 mi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Operado por COSCO Shipping (60%) y Volcan (40%)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Corredor Longitudinal de la Sierra – Sección 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US$ 1.582 mi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965 km entre Huancayo, Ayacucho, Andahuaylas, Apurímac y Pisco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Ferrocarril Chinchero–Cusco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US$ 853 mi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Conecta nuevo aeropuerto de Chinchero a Cusco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Aeropuerto Internacional de Chinchero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US$ 550-578 mi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3.720 msnm — más de 7 millones de pasajeros/año previstos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Ferrocarril Chancay–Sierra Central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US$ 420 mi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 km — transporte de cobre y litio hasta Chancay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9436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Traçado encaja en Perú?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103327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São Paulo a los Andes: una carta de ajuste perfecta entre capacidades brasileñas y necesidades peruanas.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395478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CAPACIDADES TRAÇADO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30+ años de experiencia en infraestructura vial, pavimentación y obras de montaña.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Especialización en túneles: uno de los activos más demandados en el NCC y en minería subterránea peruana.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de complejidad: obras en terreno difícil, altitud y condiciones climáticas adversas.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contractuales: experiencia en EPC, EPCM, CM y APP — los mismos que rigen el mercado peruano.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Proximidad cultural: lengua portuguesa/española, mismos husos horarios, tradición de cooperación Brasil-Perú.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732020" y="1417320"/>
            <a:ext cx="395478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NECESIDADES PERÚ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Túneles en alta montaña: NCC requiere 50+ túneles, varios &gt;3 km, a más de 4.000 msnm.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Pavimentación y terraplenaje: Corredor Longitudinal de la Sierra, ferrocarriles Lima-Ica y Chancay-Sierra.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Gerenciamiento de obras: déficit crítico de PMO y Construction Management en proyectos de gran porte.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Obras de arte: 94 viaductos en el NCC, puentes en corredores mineros, obras portuarias.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Contenido local + know-how internacional: el Perú busca socios que aporten tecnología y generen empleo local.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9436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de oportunidad — ¿Dónde debe actuar Traçado primero?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103327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Evaluación cualitativa del pipeline peruano según volumen, complejidad de entrada y atractivo para Traçado.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44752"/>
          <a:ext cx="8229600" cy="1856232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Sector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Volumen de Proyectos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Complejidad de Entrada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Atractivo Traçado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Minería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Muy alto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 (relacionamiento con majors)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Infraestructura vial/ferroviaria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Media-alta (players chinos/estatales)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Agua y Saneamiento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Medio-alto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 (APP consolidada)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Energía (transmisión)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Puertos y Aeropuertos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 (concesionarios ya definidos)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Media-baja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Superestructura industrial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Creciente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Baja-media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233672"/>
            <a:ext cx="8229600" cy="457200"/>
          </a:xfrm>
          <a:prstGeom prst="rect">
            <a:avLst/>
          </a:prstGeom>
          <a:solidFill>
            <a:srgbClr val="F0F4F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Recomendación: Entrar primero por infraestructura vial (NCC y corredores) como especialista en túneles y obras de arte, y paralelamente posicionarse en minería como EPCM/CM. El agua y saneamiento ofrece menor competencia y mayor predictibilidad regulatoria.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9436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de entrada — De São Paulo a Lima en 4 fases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103327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Estrategia de bajo riesgo, alta curva de aprendizaje y construcción de referencias locales.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8229600" cy="740664"/>
          </a:xfrm>
          <a:prstGeom prst="rect">
            <a:avLst/>
          </a:prstGeom>
          <a:solidFill>
            <a:srgbClr val="FAFAFA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08760"/>
            <a:ext cx="2194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  ·  Meses 1-6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700784"/>
            <a:ext cx="2194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Representación Comercial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926080" y="1517904"/>
            <a:ext cx="557784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Establecer presencia comercial en Lima. Mapear decisores en MTC, Provías Nacional, ProInversión, MINEM y principales mineras. Participar en rondas de negocios y ferias (Perumin, CONEX).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57200" y="2258568"/>
            <a:ext cx="8229600" cy="740664"/>
          </a:xfrm>
          <a:prstGeom prst="rect">
            <a:avLst/>
          </a:prstGeom>
          <a:solidFill>
            <a:srgbClr val="FAFAFA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304288"/>
            <a:ext cx="2194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  ·  Meses 6-12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8640" y="2496312"/>
            <a:ext cx="2194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Alianzas Locales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26080" y="2313432"/>
            <a:ext cx="557784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Formalizar joint ventures o alianzas estratégicas con ingenierías y constructoras peruanas (contenido local + know-how brasileño). Objetivo: cumplir requisitos de licitación y mitigar riesgo regulatorio.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3054096"/>
            <a:ext cx="8229600" cy="740664"/>
          </a:xfrm>
          <a:prstGeom prst="rect">
            <a:avLst/>
          </a:prstGeom>
          <a:solidFill>
            <a:srgbClr val="FAFAFA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099816"/>
            <a:ext cx="2194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  ·  Meses 12-24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" y="3291840"/>
            <a:ext cx="2194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Licitaciones y Propuestas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926080" y="3108960"/>
            <a:ext cx="557784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Participar en procesos EPCM/PMC/CM en proyectos de medio porte (PTAR, transmisión, tramos viales) para construir referencias. Apuntar al NCC Tramo 2 (Huarochirí) como proyecto emblemático.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3849624"/>
            <a:ext cx="8229600" cy="740664"/>
          </a:xfrm>
          <a:prstGeom prst="rect">
            <a:avLst/>
          </a:prstGeom>
          <a:solidFill>
            <a:srgbClr val="FAFAFA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895344"/>
            <a:ext cx="2194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4  ·  Meses 24-36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48640" y="4087368"/>
            <a:ext cx="2194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Oficina Permanente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926080" y="3904488"/>
            <a:ext cx="557784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Establecer oficina local con equipo multidisciplinario (ingeniería, legal, comercial), anclada en contratos de largo plazo. Escalar hacia minería y ferrocarriles.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9436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momento es ahora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103327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Perú ofrece una ventana de oportunidad concreta para Traçado. La pregunta no es si entrar, sino cómo hacerlo de forma estructurada.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39547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CONCLUSIONES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Perú concentra una de las mayores carteras de infraestructura de Latinoamérica: US$ 110+ bi en proyectos identificados.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Nueva Carretera Central es el proyecto emblemático que encaja con el ADN de Traçado: túneles, alta montaña, complejidad técnica.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minería, el agua y la infraestructura ofrecen ventanas de entrada con menor competencia para ingenierías internacionales.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entrada estructurada en 4 fases reduce el riesgo comercial y acelera la curva de aprendizaje regulatorio.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732020" y="1417320"/>
            <a:ext cx="39547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PASOS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Validar interés estratégico de la dirección de Traçado en el mercado peruano.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Agendar visita técnica a Lima: reuniones con Provías Nacional, ProInversión y potenciales socios locales.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Construir banco de datos de 100+ proyectos con Capex, cliente, estado y tipo de contrato.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Elaborar propuesta conjunta para el NCC Tramo 2 (Huarochirí) con socio local identificado.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Due diligence legal: confirmar requisitos de constitución, tributación y contenido local.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4251960"/>
            <a:ext cx="8229600" cy="438912"/>
          </a:xfrm>
          <a:prstGeom prst="rect">
            <a:avLst/>
          </a:prstGeom>
          <a:solidFill>
            <a:srgbClr val="F0F4F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Transformar la complejidad andina en ventaja competitiva — esa es la apuesta de Traçado en Perú.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Traçado Engenharia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Traçado + Perú — Oportunidades de Ingeniería y Construcción 2026-2035</dc:title>
  <dc:subject>Oportunidades de Ingeniería y Construcción en Perú</dc:subject>
  <dc:creator>Traçado Engenharia / MHA</dc:creator>
  <cp:lastModifiedBy>Traçado Engenharia / MHA</cp:lastModifiedBy>
  <cp:revision>1</cp:revision>
  <dcterms:created xsi:type="dcterms:W3CDTF">2026-07-27T22:42:52Z</dcterms:created>
  <dcterms:modified xsi:type="dcterms:W3CDTF">2026-07-27T22:42:52Z</dcterms:modified>
</cp:coreProperties>
</file>