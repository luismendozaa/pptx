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B5C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1A3B5C"/>
                </a:solidFill>
                <a:latin typeface="Arial"/>
              </a:rPr>
              <a:t>Yield Build (%)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Rate</c:v>
                </c:pt>
              </c:strCache>
            </c:strRef>
          </c:tx>
          <c:spPr>
            <a:solidFill>
              <a:srgbClr val="1A3B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Low Scenario</c:v>
                </c:pt>
                <c:pt idx="1">
                  <c:v>High Scenario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E1-944E-AC35-3ED6EDDAC2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Country Risk</c:v>
                </c:pt>
              </c:strCache>
            </c:strRef>
          </c:tx>
          <c:spPr>
            <a:solidFill>
              <a:srgbClr val="2E6E7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Low Scenario</c:v>
                </c:pt>
                <c:pt idx="1">
                  <c:v>High Scenario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1.04</c:v>
                </c:pt>
                <c:pt idx="1">
                  <c:v>1.44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E1-944E-AC35-3ED6EDDAC2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Credit Premium</c:v>
                </c:pt>
              </c:strCache>
            </c:strRef>
          </c:tx>
          <c:spPr>
            <a:solidFill>
              <a:srgbClr val="C49B3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P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Low Scenario</c:v>
                </c:pt>
                <c:pt idx="1">
                  <c:v>High Scenario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E1-944E-AC35-3ED6EDDAC21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3"/>
                </a:solidFill>
                <a:latin typeface="Arial"/>
              </a:defRPr>
            </a:pPr>
            <a:endParaRPr lang="en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9525" cap="flat">
              <a:solidFill>
                <a:srgbClr val="E4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7"/>
                </a:solidFill>
                <a:latin typeface="Arial"/>
              </a:defRPr>
            </a:pPr>
            <a:endParaRPr lang="en-PE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A33"/>
              </a:solidFill>
              <a:latin typeface="Arial"/>
              <a:cs typeface="Arial"/>
            </a:defRPr>
          </a:pPr>
          <a:endParaRPr lang="en-PE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B5C"/>
                </a:solidFill>
                <a:latin typeface="Arial"/>
              </a:defRPr>
            </a:pPr>
            <a:r>
              <a:rPr lang="en-GB" sz="1300" b="0" i="0" u="none" strike="noStrike">
                <a:solidFill>
                  <a:srgbClr val="1A3B5C"/>
                </a:solidFill>
                <a:latin typeface="Arial"/>
              </a:rPr>
              <a:t>Private Credit Growth Rate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2E6E7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B5C"/>
                    </a:solidFill>
                    <a:latin typeface="Arial"/>
                  </a:defRPr>
                </a:pPr>
                <a:endParaRPr lang="en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10-Yr CAGR</c:v>
                </c:pt>
                <c:pt idx="1">
                  <c:v>2024 Growth</c:v>
                </c:pt>
                <c:pt idx="2">
                  <c:v>2025 Growth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42.86</c:v>
                </c:pt>
                <c:pt idx="2">
                  <c:v>24.19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C4-6D4D-9E85-41B7504E25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A33"/>
                </a:solidFill>
                <a:latin typeface="Arial"/>
              </a:defRPr>
            </a:pPr>
            <a:endParaRPr lang="en-PE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9525" cap="flat">
              <a:solidFill>
                <a:srgbClr val="E4E9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7"/>
                </a:solidFill>
                <a:latin typeface="Arial"/>
              </a:defRPr>
            </a:pPr>
            <a:endParaRPr lang="en-PE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44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377440"/>
            <a:ext cx="6400800" cy="6400800"/>
          </a:xfrm>
          <a:prstGeom prst="ellipse">
            <a:avLst/>
          </a:prstGeom>
          <a:ln w="15875">
            <a:solidFill>
              <a:srgbClr val="C49B3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3" name="Shape 1"/>
          <p:cNvSpPr/>
          <p:nvPr/>
        </p:nvSpPr>
        <p:spPr>
          <a:xfrm>
            <a:off x="9509760" y="-1737360"/>
            <a:ext cx="5120640" cy="5120640"/>
          </a:xfrm>
          <a:prstGeom prst="ellipse">
            <a:avLst/>
          </a:prstGeom>
          <a:ln w="15875">
            <a:solidFill>
              <a:srgbClr val="C49B3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E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  |  INVESTMENT BRIEFING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5146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a US$63bn+ Financing Gap with Durable, Yield-Rich, U.S.-Protected Assets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502920" cy="36576"/>
          </a:xfrm>
          <a:prstGeom prst="rect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8" name="Text 6"/>
          <p:cNvSpPr/>
          <p:nvPr/>
        </p:nvSpPr>
        <p:spPr>
          <a:xfrm>
            <a:off x="82296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Gaps, One Opportunity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 pairs a deeply underpenetrated private credit market with a mature, U.S.-protected infrastructure pipeline — a rare alignment of yield, scale, and execution readiness.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6" name="Shape 4"/>
          <p:cNvSpPr/>
          <p:nvPr/>
        </p:nvSpPr>
        <p:spPr>
          <a:xfrm>
            <a:off x="740664" y="2386584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5"/>
          <p:cNvSpPr/>
          <p:nvPr/>
        </p:nvSpPr>
        <p:spPr>
          <a:xfrm>
            <a:off x="740664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44168" y="2359152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Underpenetrated Credit Market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0664" y="2935224"/>
            <a:ext cx="49331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credit is only ~2% of public debt and 44% of GDP — far below the OECD average of 76%.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214884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1" name="Shape 9"/>
          <p:cNvSpPr/>
          <p:nvPr/>
        </p:nvSpPr>
        <p:spPr>
          <a:xfrm>
            <a:off x="6515100" y="2386584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6515100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18604" y="2359152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Exceptional Risk-Adjusted Yield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15100" y="2935224"/>
            <a:ext cx="49331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8.0%–9.4% unlevered — 300–400bps above sovereign bonds already priced at LatAm's 2nd-lowest risk.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986784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6" name="Shape 14"/>
          <p:cNvSpPr/>
          <p:nvPr/>
        </p:nvSpPr>
        <p:spPr>
          <a:xfrm>
            <a:off x="740664" y="4224528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7" name="Text 15"/>
          <p:cNvSpPr/>
          <p:nvPr/>
        </p:nvSpPr>
        <p:spPr>
          <a:xfrm>
            <a:off x="740664" y="4224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44168" y="4197096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Infrastructure Delivery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0664" y="4773168"/>
            <a:ext cx="49331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PPP projects (US$41.4bn) awarded since 2009, feeding a staged US$61bn+ forward pipeline.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7356" y="3986784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1" name="Shape 19"/>
          <p:cNvSpPr/>
          <p:nvPr/>
        </p:nvSpPr>
        <p:spPr>
          <a:xfrm>
            <a:off x="6515100" y="4224528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2" name="Text 20"/>
          <p:cNvSpPr/>
          <p:nvPr/>
        </p:nvSpPr>
        <p:spPr>
          <a:xfrm>
            <a:off x="6515100" y="4224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18604" y="4197096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U.S.-Backed Legal Protection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15100" y="4773168"/>
            <a:ext cx="49331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Treaty arbitration, ICSID access, and active U.S. embassy support for investors.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CREDIT 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Structural Gap Between Private and Public Finance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banking system and capital markets leave the middle market underserved — creating room for private credit to scale.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2590038" cy="2286000"/>
          </a:xfrm>
          <a:prstGeom prst="roundRect">
            <a:avLst>
              <a:gd name="adj" fmla="val 3200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3157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US$2.0bn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7512" y="3776472"/>
            <a:ext cx="2260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credit AUM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7278" y="2057400"/>
            <a:ext cx="2590038" cy="2286000"/>
          </a:xfrm>
          <a:prstGeom prst="roundRect">
            <a:avLst>
              <a:gd name="adj" fmla="val 3200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9" name="Text 7"/>
          <p:cNvSpPr/>
          <p:nvPr/>
        </p:nvSpPr>
        <p:spPr>
          <a:xfrm>
            <a:off x="3504438" y="2240280"/>
            <a:ext cx="23157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US$103.3bn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31870" y="3776472"/>
            <a:ext cx="2260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public debt — private credit is only ~2% of this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1636" y="2057400"/>
            <a:ext cx="2590038" cy="2286000"/>
          </a:xfrm>
          <a:prstGeom prst="roundRect">
            <a:avLst>
              <a:gd name="adj" fmla="val 3200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6368796" y="2240280"/>
            <a:ext cx="23157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of GDP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96228" y="3776472"/>
            <a:ext cx="2260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penetration, vs. OECD average of 76%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95994" y="2057400"/>
            <a:ext cx="2590038" cy="2286000"/>
          </a:xfrm>
          <a:prstGeom prst="roundRect">
            <a:avLst>
              <a:gd name="adj" fmla="val 3200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5" name="Text 13"/>
          <p:cNvSpPr/>
          <p:nvPr/>
        </p:nvSpPr>
        <p:spPr>
          <a:xfrm>
            <a:off x="9233154" y="2240280"/>
            <a:ext cx="23157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US$132.5bn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260586" y="3776472"/>
            <a:ext cx="2260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system loans — unable to cover the “middle market”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66344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r>
              <a:rPr lang="en-US" sz="13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US$63bn+ historical underinvestment in infrastructure (2010–2024).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RETURNS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Exceptional Premiums for Disciplined Capital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premiums are exceptional relative to Peru's sovereign risk profile.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6" name="Shape 4"/>
          <p:cNvSpPr/>
          <p:nvPr/>
        </p:nvSpPr>
        <p:spPr>
          <a:xfrm>
            <a:off x="740664" y="2203704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5"/>
          <p:cNvSpPr/>
          <p:nvPr/>
        </p:nvSpPr>
        <p:spPr>
          <a:xfrm>
            <a:off x="740664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44168" y="2176272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Sovereign Risk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0664" y="2752344"/>
            <a:ext cx="4933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 EMBIG (country risk) of ~104–144 bps — the 2nd-lowest in Latin America.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196596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1" name="Shape 9"/>
          <p:cNvSpPr/>
          <p:nvPr/>
        </p:nvSpPr>
        <p:spPr>
          <a:xfrm>
            <a:off x="6515100" y="2203704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6515100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18604" y="2176272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Credit Premium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15100" y="2752344"/>
            <a:ext cx="4933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credit earns 300–400 bps above sovereign bonds.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959352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6" name="Shape 14"/>
          <p:cNvSpPr/>
          <p:nvPr/>
        </p:nvSpPr>
        <p:spPr>
          <a:xfrm>
            <a:off x="740664" y="4197096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7" name="Text 15"/>
          <p:cNvSpPr/>
          <p:nvPr/>
        </p:nvSpPr>
        <p:spPr>
          <a:xfrm>
            <a:off x="740664" y="4197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44168" y="4169664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Mispriced Middle Market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0664" y="4745736"/>
            <a:ext cx="4933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NPLs are &lt;0.5%, but medium-sized enterprises show ~12% NPLs — a clear repricing opportunity.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7356" y="3959352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1" name="Shape 19"/>
          <p:cNvSpPr/>
          <p:nvPr/>
        </p:nvSpPr>
        <p:spPr>
          <a:xfrm>
            <a:off x="6515100" y="4197096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2" name="Text 20"/>
          <p:cNvSpPr/>
          <p:nvPr/>
        </p:nvSpPr>
        <p:spPr>
          <a:xfrm>
            <a:off x="6515100" y="4197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18604" y="4169664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Advantage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15100" y="4745736"/>
            <a:ext cx="4933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lend short-term (&lt;5 years); private credit captures the long-term yield banks leave behind.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FINANCIAL TAKEAWAY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8.0%–9.4% Unlevered Yield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layered components combine into Peru private credit's estimated total return.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965960"/>
          <a:ext cx="6492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360920" y="1965960"/>
            <a:ext cx="4325112" cy="2834640"/>
          </a:xfrm>
          <a:prstGeom prst="roundRect">
            <a:avLst>
              <a:gd name="adj" fmla="val 2581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4"/>
          <p:cNvSpPr/>
          <p:nvPr/>
        </p:nvSpPr>
        <p:spPr>
          <a:xfrm>
            <a:off x="7616952" y="2240280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Rate (U.S. 10Y Treasury)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56064" y="2240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~4.00%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16952" y="2679192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Peru EMBIG (Country Risk)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56064" y="2679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+1.04% – 1.44%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16952" y="3118104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Private Credit Premium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656064" y="3118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+3.00% – 4.00%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16952" y="3584448"/>
            <a:ext cx="3813048" cy="18288"/>
          </a:xfrm>
          <a:prstGeom prst="rect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4" name="Text 11"/>
          <p:cNvSpPr/>
          <p:nvPr/>
        </p:nvSpPr>
        <p:spPr>
          <a:xfrm>
            <a:off x="7616952" y="3721608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Total Yield (Unlevered)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16952" y="4014216"/>
            <a:ext cx="3813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 – 9.4%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TRAJECTORY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Growth, Still Early Innings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young market compounding quickly, with most of the addressable opportunity still untapped.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965960"/>
          <a:ext cx="51206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3225" y="2251263"/>
            <a:ext cx="5696712" cy="1170432"/>
          </a:xfrm>
          <a:prstGeom prst="roundRect">
            <a:avLst>
              <a:gd name="adj" fmla="val 625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4"/>
          <p:cNvSpPr/>
          <p:nvPr/>
        </p:nvSpPr>
        <p:spPr>
          <a:xfrm>
            <a:off x="6202681" y="2458422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2.4M vs. 18,000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02681" y="2822868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 has 2.4 million businesses, but private credit today targets only ~18,000 mid-to-large companies.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9864" y="4336358"/>
            <a:ext cx="5696712" cy="1170432"/>
          </a:xfrm>
          <a:prstGeom prst="roundRect">
            <a:avLst>
              <a:gd name="adj" fmla="val 2780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" name="Text 7"/>
          <p:cNvSpPr/>
          <p:nvPr/>
        </p:nvSpPr>
        <p:spPr>
          <a:xfrm>
            <a:off x="6208776" y="4380764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vs. 5.8%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094476" y="4745210"/>
            <a:ext cx="5257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global investors that allocate to EM private credit, vs. the share of global portfolios EM actually holds.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a US$110–160bn Infrastructure Gap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deficit spans transport, water, energy, education, and health — creating urgent demand for private capital.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2590038" cy="2286000"/>
          </a:xfrm>
          <a:prstGeom prst="roundRect">
            <a:avLst>
              <a:gd name="adj" fmla="val 3200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3157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US$110–160bn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67512" y="3776472"/>
            <a:ext cx="2260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infrastructure investment gap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7278" y="2057400"/>
            <a:ext cx="2590038" cy="2286000"/>
          </a:xfrm>
          <a:prstGeom prst="roundRect">
            <a:avLst>
              <a:gd name="adj" fmla="val 3200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9" name="Text 7"/>
          <p:cNvSpPr/>
          <p:nvPr/>
        </p:nvSpPr>
        <p:spPr>
          <a:xfrm>
            <a:off x="3504438" y="2240280"/>
            <a:ext cx="23157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2,241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31870" y="3776472"/>
            <a:ext cx="2260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Suspended public works, worth US$18.25bn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31636" y="2057400"/>
            <a:ext cx="2590038" cy="2286000"/>
          </a:xfrm>
          <a:prstGeom prst="roundRect">
            <a:avLst>
              <a:gd name="adj" fmla="val 3200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6368796" y="2240280"/>
            <a:ext cx="23157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US$3.45bn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96228" y="3776472"/>
            <a:ext cx="2260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the new administration aims to award before year-end 2026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95994" y="2057400"/>
            <a:ext cx="2590038" cy="2286000"/>
          </a:xfrm>
          <a:prstGeom prst="roundRect">
            <a:avLst>
              <a:gd name="adj" fmla="val 3200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5" name="Text 13"/>
          <p:cNvSpPr/>
          <p:nvPr/>
        </p:nvSpPr>
        <p:spPr>
          <a:xfrm>
            <a:off x="9233154" y="2240280"/>
            <a:ext cx="23157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 + 7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260586" y="3776472"/>
            <a:ext cx="22608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ProInversión projects / addendas, ~US$41bn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663440"/>
            <a:ext cx="11183112" cy="822960"/>
          </a:xfrm>
          <a:prstGeom prst="roundRect">
            <a:avLst>
              <a:gd name="adj" fmla="val 8889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8" name="Text 16"/>
          <p:cNvSpPr/>
          <p:nvPr/>
        </p:nvSpPr>
        <p:spPr>
          <a:xfrm>
            <a:off x="731520" y="466344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administration </a:t>
            </a:r>
            <a:r>
              <a:rPr lang="en-US" sz="12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(taking office July 28, 2026) is racing to award contracts before year-end.  </a:t>
            </a:r>
            <a:r>
              <a:rPr lang="en-US" sz="12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fit: </a:t>
            </a:r>
            <a:r>
              <a:rPr lang="en-US" sz="12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infrastructure, energy transition, logistics, and social assets.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Durability &amp; Value Discovery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Financiers buy long-duration, inflation-linked cash flows. Peru delivers precisely that.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30-YEAR CONCESSIONS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tenors across transport, energy, water, and social sectors.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SEGMENTATION — YIELD SPREADS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9" name="Text 7"/>
          <p:cNvSpPr/>
          <p:nvPr/>
        </p:nvSpPr>
        <p:spPr>
          <a:xfrm>
            <a:off x="704088" y="333756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(Cofinanced)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3657600"/>
            <a:ext cx="4855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payments — investment-grade debt territory.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297680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704088" y="4389120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Core+ (Self-financed)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" y="4709160"/>
            <a:ext cx="4855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Demand-driven tariffs — higher equity IRR, double-digit upside.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172200" y="1965960"/>
            <a:ext cx="5513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VALUE-ADD TOOLS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377440"/>
            <a:ext cx="365760" cy="365760"/>
          </a:xfrm>
          <a:prstGeom prst="ellipse">
            <a:avLst/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6" name="Text 14"/>
          <p:cNvSpPr/>
          <p:nvPr/>
        </p:nvSpPr>
        <p:spPr>
          <a:xfrm>
            <a:off x="6172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233172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Stability Agreements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0" y="2670048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738 contracts, US$36bn+ coverage — lock in tax regimes.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383280"/>
            <a:ext cx="365760" cy="365760"/>
          </a:xfrm>
          <a:prstGeom prst="ellipse">
            <a:avLst/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0" name="Text 18"/>
          <p:cNvSpPr/>
          <p:nvPr/>
        </p:nvSpPr>
        <p:spPr>
          <a:xfrm>
            <a:off x="617220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75120" y="333756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 (Advanced VAT Recovery)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0" y="3675888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equity needs during construction.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4389120"/>
            <a:ext cx="365760" cy="365760"/>
          </a:xfrm>
          <a:prstGeom prst="ellipse">
            <a:avLst/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4" name="Text 22"/>
          <p:cNvSpPr/>
          <p:nvPr/>
        </p:nvSpPr>
        <p:spPr>
          <a:xfrm>
            <a:off x="6172200" y="4389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0" y="434340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/ CPI Indexation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675120" y="4681728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margins against currency depreciation.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RECORD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Delivery Performance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PPP framework has evolved to APP 5.0, embedding financial adaptability and climate resilience.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544824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PPP Projects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Awarded since 2009 → US$41.4bn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2064" y="1965960"/>
            <a:ext cx="3544824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9" name="Text 7"/>
          <p:cNvSpPr/>
          <p:nvPr/>
        </p:nvSpPr>
        <p:spPr>
          <a:xfrm>
            <a:off x="4504944" y="224028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1,429 OXI Projects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04944" y="3291840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“Tax-Works” program → S/ 23bn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41208" y="1965960"/>
            <a:ext cx="3544824" cy="2103120"/>
          </a:xfrm>
          <a:prstGeom prst="roundRect">
            <a:avLst>
              <a:gd name="adj" fmla="val 3478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8324088" y="2240280"/>
            <a:ext cx="3179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738 Agreements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24088" y="3291840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Stability Agreements → US$36bn+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38912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5" name="Text 13"/>
          <p:cNvSpPr/>
          <p:nvPr/>
        </p:nvSpPr>
        <p:spPr>
          <a:xfrm>
            <a:off x="777240" y="4389120"/>
            <a:ext cx="106344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marked the second-highest award year in ProInversión's history — clear momentum.  </a:t>
            </a: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5.0 introduces explicit renegotiation mechanisms (material adverse change) without litigation, reducing the ‘renegotiation risk premium.’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CURVE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Staged Pipeline: US$61bn+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clear, phased pipeline allows for precise capital stacking over 3–5 years — exactly the tenor private credit and PPP equity can serve.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544824" cy="1005840"/>
          </a:xfrm>
          <a:prstGeom prst="roundRect">
            <a:avLst>
              <a:gd name="adj" fmla="val 6364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6" name="Text 4"/>
          <p:cNvSpPr/>
          <p:nvPr/>
        </p:nvSpPr>
        <p:spPr>
          <a:xfrm>
            <a:off x="685800" y="2075688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— 2026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3179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~US$5.3bn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85800" y="2734056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projects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3081528"/>
            <a:ext cx="3544824" cy="288036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" name="Text 8"/>
          <p:cNvSpPr/>
          <p:nvPr/>
        </p:nvSpPr>
        <p:spPr>
          <a:xfrm>
            <a:off x="704088" y="3246120"/>
            <a:ext cx="3142488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Transmission Plan (Groups 2–4): US$702m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Obras de Cabecera (Water): US$780m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Chimbote Terminal: US$463m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 Metropolitan CER (Education): US$584m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2064" y="1965960"/>
            <a:ext cx="3544824" cy="1005840"/>
          </a:xfrm>
          <a:prstGeom prst="roundRect">
            <a:avLst>
              <a:gd name="adj" fmla="val 6364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4504944" y="2075688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 — 2027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04944" y="2331720"/>
            <a:ext cx="3179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~US$20.8bn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04944" y="2734056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projects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22064" y="3081528"/>
            <a:ext cx="3544824" cy="288036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6" name="Text 14"/>
          <p:cNvSpPr/>
          <p:nvPr/>
        </p:nvSpPr>
        <p:spPr>
          <a:xfrm>
            <a:off x="4523232" y="3246120"/>
            <a:ext cx="3142488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Desalination Plants (Ilo, Lima Norte)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PTAR Trujillo: US$809m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Group of Airports: US$619m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Chinecas Irrigation: US$5.0bn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41208" y="1965960"/>
            <a:ext cx="3544824" cy="1005840"/>
          </a:xfrm>
          <a:prstGeom prst="roundRect">
            <a:avLst>
              <a:gd name="adj" fmla="val 6364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8" name="Text 16"/>
          <p:cNvSpPr/>
          <p:nvPr/>
        </p:nvSpPr>
        <p:spPr>
          <a:xfrm>
            <a:off x="8324088" y="2075688"/>
            <a:ext cx="3179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— 2028+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24088" y="2331720"/>
            <a:ext cx="3179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~US$35bn+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324088" y="2734056"/>
            <a:ext cx="3179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megaprojects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41208" y="3081528"/>
            <a:ext cx="3544824" cy="288036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2" name="Text 20"/>
          <p:cNvSpPr/>
          <p:nvPr/>
        </p:nvSpPr>
        <p:spPr>
          <a:xfrm>
            <a:off x="8342376" y="3246120"/>
            <a:ext cx="3142488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 Lima Lines 3, 4, 7 (~US$13.3bn)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Lima-Ica Railway: US$7.2bn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900"/>
              </a:spcAft>
              <a:buSzPct val="100000"/>
              <a:buChar char="●"/>
            </a:pPr>
            <a:r>
              <a:rPr lang="en-US" sz="110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Majes-Siguas II Irrigation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PROTECTION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Legal Shield for U.S. Investors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 offers a structurally de-risked legal environment for qualifying U.S. investors — across both credit and equity structures.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6" name="Shape 4"/>
          <p:cNvSpPr/>
          <p:nvPr/>
        </p:nvSpPr>
        <p:spPr>
          <a:xfrm>
            <a:off x="740664" y="2203704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5"/>
          <p:cNvSpPr/>
          <p:nvPr/>
        </p:nvSpPr>
        <p:spPr>
          <a:xfrm>
            <a:off x="740664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44168" y="2176272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U.S.–Peru Trade Promotion Agreement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0664" y="2752344"/>
            <a:ext cx="4933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10: national treatment, MFN status, protection against uncompensated expropriation, and full due-process guarantees.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7356" y="1965960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1" name="Shape 9"/>
          <p:cNvSpPr/>
          <p:nvPr/>
        </p:nvSpPr>
        <p:spPr>
          <a:xfrm>
            <a:off x="6515100" y="2203704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2" name="Text 10"/>
          <p:cNvSpPr/>
          <p:nvPr/>
        </p:nvSpPr>
        <p:spPr>
          <a:xfrm>
            <a:off x="6515100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18604" y="2176272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ICSID / UNCITRAL Arbitration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15100" y="2752344"/>
            <a:ext cx="4933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 has been an ICSID participant since 1993 — investors can bypass local courts for neutral tribunals.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959352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16" name="Shape 14"/>
          <p:cNvSpPr/>
          <p:nvPr/>
        </p:nvSpPr>
        <p:spPr>
          <a:xfrm>
            <a:off x="740664" y="4197096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7" name="Text 15"/>
          <p:cNvSpPr/>
          <p:nvPr/>
        </p:nvSpPr>
        <p:spPr>
          <a:xfrm>
            <a:off x="740664" y="4197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44168" y="4169664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Legal Stability Agreements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0664" y="4745736"/>
            <a:ext cx="4933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US$5m investment secures 10-year stabilization of tax, FX, and regulatory treatment.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7356" y="3959352"/>
            <a:ext cx="5408676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A3B5C">
                <a:alpha val="12000"/>
              </a:srgbClr>
            </a:outerShdw>
          </a:effectLst>
        </p:spPr>
        <p:txBody>
          <a:bodyPr/>
          <a:lstStyle/>
          <a:p>
            <a:endParaRPr lang="en-PE"/>
          </a:p>
        </p:txBody>
      </p:sp>
      <p:sp>
        <p:nvSpPr>
          <p:cNvPr id="21" name="Shape 19"/>
          <p:cNvSpPr/>
          <p:nvPr/>
        </p:nvSpPr>
        <p:spPr>
          <a:xfrm>
            <a:off x="6515100" y="4197096"/>
            <a:ext cx="438912" cy="438912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2" name="Text 20"/>
          <p:cNvSpPr/>
          <p:nvPr/>
        </p:nvSpPr>
        <p:spPr>
          <a:xfrm>
            <a:off x="6515100" y="41970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18604" y="4169664"/>
            <a:ext cx="43296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U.S. Government Support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515100" y="4745736"/>
            <a:ext cx="49331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 MoU between the U.S. Embassy and ProInversión; Ambassador Navarro prioritizes commercial diplomacy.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Private Credit Fits Peru's Infrastructure Stack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Complementary layers of the same opportunity — senior credit, availability-payment debt, and demand-driven equity.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11183112" cy="15087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Asset Type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 Level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Target Return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Typical Tenor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A33"/>
                          </a:solidFill>
                        </a:rPr>
                        <a:t>Private Credit (Direct Lending)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Senior secured, middle-market loans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Low–Medium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3B5C"/>
                          </a:solidFill>
                        </a:rPr>
                        <a:t>8.0–9.4%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3–7 yrs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A33"/>
                          </a:solidFill>
                        </a:rPr>
                        <a:t>Core Infrastructure (Cofinanced)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Availability payments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Low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3B5C"/>
                          </a:solidFill>
                        </a:rPr>
                        <a:t>8–11%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25–30 yrs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F2A33"/>
                          </a:solidFill>
                        </a:rPr>
                        <a:t>Core+ Infrastructure (Self-financed)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Demand / tariff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Medium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3B5C"/>
                          </a:solidFill>
                        </a:rPr>
                        <a:t>12–16%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F2A33"/>
                          </a:solidFill>
                        </a:rPr>
                        <a:t>25–30 yrs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370332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RETURN COMPARISON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Credit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54680" y="4069080"/>
            <a:ext cx="8531352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9" name="Shape 6"/>
          <p:cNvSpPr/>
          <p:nvPr/>
        </p:nvSpPr>
        <p:spPr>
          <a:xfrm>
            <a:off x="7420356" y="4069080"/>
            <a:ext cx="746493" cy="365760"/>
          </a:xfrm>
          <a:prstGeom prst="roundRect">
            <a:avLst>
              <a:gd name="adj" fmla="val 12500"/>
            </a:avLst>
          </a:prstGeom>
          <a:solidFill>
            <a:srgbClr val="2E6E71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" name="Text 7"/>
          <p:cNvSpPr/>
          <p:nvPr/>
        </p:nvSpPr>
        <p:spPr>
          <a:xfrm>
            <a:off x="7420356" y="4069080"/>
            <a:ext cx="7464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8–9.4%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45811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Infra (Availability)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54680" y="4581144"/>
            <a:ext cx="8531352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5" name="Shape 10"/>
          <p:cNvSpPr/>
          <p:nvPr/>
        </p:nvSpPr>
        <p:spPr>
          <a:xfrm>
            <a:off x="7420356" y="4581144"/>
            <a:ext cx="1599629" cy="365760"/>
          </a:xfrm>
          <a:prstGeom prst="roundRect">
            <a:avLst>
              <a:gd name="adj" fmla="val 12500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4" name="Text 11"/>
          <p:cNvSpPr/>
          <p:nvPr/>
        </p:nvSpPr>
        <p:spPr>
          <a:xfrm>
            <a:off x="7420356" y="4581144"/>
            <a:ext cx="15996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8–11%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509320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Core+ Infra (Demand/Tariff)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154680" y="5093208"/>
            <a:ext cx="8531352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7" name="Shape 14"/>
          <p:cNvSpPr/>
          <p:nvPr/>
        </p:nvSpPr>
        <p:spPr>
          <a:xfrm>
            <a:off x="9553194" y="5093208"/>
            <a:ext cx="2132838" cy="365760"/>
          </a:xfrm>
          <a:prstGeom prst="roundRect">
            <a:avLst>
              <a:gd name="adj" fmla="val 12500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8" name="Text 15"/>
          <p:cNvSpPr/>
          <p:nvPr/>
        </p:nvSpPr>
        <p:spPr>
          <a:xfrm>
            <a:off x="9553194" y="5093208"/>
            <a:ext cx="2132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12–16%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5696712"/>
            <a:ext cx="11183112" cy="594360"/>
          </a:xfrm>
          <a:prstGeom prst="roundRect">
            <a:avLst>
              <a:gd name="adj" fmla="val 12308"/>
            </a:avLst>
          </a:prstGeom>
          <a:solidFill>
            <a:srgbClr val="1A3B5C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0" name="Text 17"/>
          <p:cNvSpPr/>
          <p:nvPr/>
        </p:nvSpPr>
        <p:spPr>
          <a:xfrm>
            <a:off x="777240" y="5696712"/>
            <a:ext cx="10634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can't reach the tenor or the middle market — private credit and PPP structures can.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Pipeline Summary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Visible, staged, and scalable — US$61bn+ total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274552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Horizon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Sector Focus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Key Flagship Projects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Value (US$ Bn)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</a:rPr>
                        <a:t>Short (2026)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</a:rPr>
                        <a:t>Transport / Water / Energy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</a:rPr>
                        <a:t>Chimbote Terminal, Obras de Cabecera, Transmission Groups 2–4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</a:rPr>
                        <a:t>5.3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</a:rPr>
                        <a:t>Medium (2027)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</a:rPr>
                        <a:t>Water / Ports / Health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</a:rPr>
                        <a:t>PTAR Trujillo, Desalination (Ilo/Lima Norte), 3rd Group Airports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</a:rPr>
                        <a:t>20.8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</a:rPr>
                        <a:t>Long (2028+)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</a:rPr>
                        <a:t>Rail / Megaports / Energy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</a:rPr>
                        <a:t>Metro Lines 3, 4, 7; Lima-Ica Railway; Majes-Siguas II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</a:rPr>
                        <a:t>35.0+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70916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E8EDF2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4"/>
          <p:cNvSpPr/>
          <p:nvPr/>
        </p:nvSpPr>
        <p:spPr>
          <a:xfrm>
            <a:off x="777240" y="4709160"/>
            <a:ext cx="10634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</a:t>
            </a:r>
            <a:r>
              <a:rPr lang="en-US" sz="12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are already in execution readiness; </a:t>
            </a:r>
            <a:r>
              <a:rPr lang="en-US" sz="12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 </a:t>
            </a:r>
            <a:r>
              <a:rPr lang="en-US" sz="12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anchor 2027 structuring; </a:t>
            </a:r>
            <a:r>
              <a:rPr lang="en-US" sz="125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</a:t>
            </a:r>
            <a:r>
              <a:rPr lang="en-US" sz="12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megaprojects (Metro Lima, Lima-Ica Railway) define the decade-long capital deployment horizon.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49B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Peru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1183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underpenetrated, U.S.-protected asset classes converging on a single, well-timed opportunity.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408676" cy="1170432"/>
          </a:xfrm>
          <a:prstGeom prst="roundRect">
            <a:avLst>
              <a:gd name="adj" fmla="val 546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6" name="Shape 4"/>
          <p:cNvSpPr/>
          <p:nvPr/>
        </p:nvSpPr>
        <p:spPr>
          <a:xfrm>
            <a:off x="704088" y="2368296"/>
            <a:ext cx="457200" cy="457200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7" name="Text 5"/>
          <p:cNvSpPr/>
          <p:nvPr/>
        </p:nvSpPr>
        <p:spPr>
          <a:xfrm>
            <a:off x="704088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2121408"/>
            <a:ext cx="44028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credit is structurally underpenetrated — ~2% of public debt, 44% of GDP vs. 76% OECD average.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77356" y="2011680"/>
            <a:ext cx="5408676" cy="1170432"/>
          </a:xfrm>
          <a:prstGeom prst="roundRect">
            <a:avLst>
              <a:gd name="adj" fmla="val 546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0" name="Shape 8"/>
          <p:cNvSpPr/>
          <p:nvPr/>
        </p:nvSpPr>
        <p:spPr>
          <a:xfrm>
            <a:off x="6478524" y="2368296"/>
            <a:ext cx="457200" cy="457200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1" name="Text 9"/>
          <p:cNvSpPr/>
          <p:nvPr/>
        </p:nvSpPr>
        <p:spPr>
          <a:xfrm>
            <a:off x="6478524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100316" y="2121408"/>
            <a:ext cx="44028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Risk-adjusted yield of 8.0%–9.4% unlevered, 300–400bps above already-low sovereign risk.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5408676" cy="1170432"/>
          </a:xfrm>
          <a:prstGeom prst="roundRect">
            <a:avLst>
              <a:gd name="adj" fmla="val 546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4" name="Shape 12"/>
          <p:cNvSpPr/>
          <p:nvPr/>
        </p:nvSpPr>
        <p:spPr>
          <a:xfrm>
            <a:off x="704088" y="3739896"/>
            <a:ext cx="457200" cy="457200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5" name="Text 13"/>
          <p:cNvSpPr/>
          <p:nvPr/>
        </p:nvSpPr>
        <p:spPr>
          <a:xfrm>
            <a:off x="704088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3493008"/>
            <a:ext cx="44028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proven US$41.4bn PPP delivery engine feeding a staged US$61bn+ pipeline.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7356" y="3383280"/>
            <a:ext cx="5408676" cy="1170432"/>
          </a:xfrm>
          <a:prstGeom prst="roundRect">
            <a:avLst>
              <a:gd name="adj" fmla="val 546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8" name="Shape 16"/>
          <p:cNvSpPr/>
          <p:nvPr/>
        </p:nvSpPr>
        <p:spPr>
          <a:xfrm>
            <a:off x="6478524" y="3739896"/>
            <a:ext cx="457200" cy="457200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19" name="Text 17"/>
          <p:cNvSpPr/>
          <p:nvPr/>
        </p:nvSpPr>
        <p:spPr>
          <a:xfrm>
            <a:off x="6478524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00316" y="3493008"/>
            <a:ext cx="44028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Banks' &lt;5-year lending horizon leaves the long-duration, middle-market gap open for private credit.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754880"/>
            <a:ext cx="5408676" cy="1170432"/>
          </a:xfrm>
          <a:prstGeom prst="roundRect">
            <a:avLst>
              <a:gd name="adj" fmla="val 546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2" name="Shape 20"/>
          <p:cNvSpPr/>
          <p:nvPr/>
        </p:nvSpPr>
        <p:spPr>
          <a:xfrm>
            <a:off x="704088" y="5111496"/>
            <a:ext cx="457200" cy="457200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3" name="Text 21"/>
          <p:cNvSpPr/>
          <p:nvPr/>
        </p:nvSpPr>
        <p:spPr>
          <a:xfrm>
            <a:off x="704088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25880" y="4864608"/>
            <a:ext cx="44028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Bilateral legal protections (TPA, ICSID, embassy support) de-risk cross-border capital.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77356" y="4754880"/>
            <a:ext cx="5408676" cy="1170432"/>
          </a:xfrm>
          <a:prstGeom prst="roundRect">
            <a:avLst>
              <a:gd name="adj" fmla="val 546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6" name="Shape 24"/>
          <p:cNvSpPr/>
          <p:nvPr/>
        </p:nvSpPr>
        <p:spPr>
          <a:xfrm>
            <a:off x="6478524" y="5111496"/>
            <a:ext cx="457200" cy="457200"/>
          </a:xfrm>
          <a:prstGeom prst="ellipse">
            <a:avLst/>
          </a:prstGeom>
          <a:solidFill>
            <a:srgbClr val="C49B3F"/>
          </a:solidFill>
          <a:ln/>
        </p:spPr>
        <p:txBody>
          <a:bodyPr/>
          <a:lstStyle/>
          <a:p>
            <a:endParaRPr lang="en-PE"/>
          </a:p>
        </p:txBody>
      </p:sp>
      <p:sp>
        <p:nvSpPr>
          <p:cNvPr id="27" name="Text 25"/>
          <p:cNvSpPr/>
          <p:nvPr/>
        </p:nvSpPr>
        <p:spPr>
          <a:xfrm>
            <a:off x="6478524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3B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00316" y="4864608"/>
            <a:ext cx="440283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Early-mover advantage: ~35% historic CAGR, accelerating momentum.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Peru's Infrastructure &amp; Private Credit Opportunity  |  July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1620</Words>
  <Application>Microsoft Macintosh PowerPoint</Application>
  <PresentationFormat>Widescreen</PresentationFormat>
  <Paragraphs>254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u202122644 (Mendoza Manrique, Emily)</cp:lastModifiedBy>
  <cp:revision>2</cp:revision>
  <dcterms:created xsi:type="dcterms:W3CDTF">2026-07-31T20:47:55Z</dcterms:created>
  <dcterms:modified xsi:type="dcterms:W3CDTF">2026-07-31T21:32:59Z</dcterms:modified>
</cp:coreProperties>
</file>